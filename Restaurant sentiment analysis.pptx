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7" r:id="rId8"/>
    <p:sldId id="260" r:id="rId9"/>
    <p:sldId id="261" r:id="rId10"/>
    <p:sldId id="262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1498" y="28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591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64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246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578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16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168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310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1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13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713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0960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9216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1812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1641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21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0591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741" r:id="rId16"/>
    <p:sldLayoutId id="2147483742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359" y="1438218"/>
            <a:ext cx="8229600" cy="1785749"/>
          </a:xfrm>
        </p:spPr>
        <p:txBody>
          <a:bodyPr>
            <a:normAutofit/>
          </a:bodyPr>
          <a:lstStyle/>
          <a:p>
            <a:pPr algn="ctr"/>
            <a:r>
              <a:rPr b="1" dirty="0">
                <a:latin typeface="Book Antiqua" panose="02040602050305030304" pitchFamily="18" charset="0"/>
              </a:rPr>
              <a:t>Restaurant Review Sentiment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53906"/>
            <a:ext cx="8229600" cy="71643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sz="2000" b="1" dirty="0">
                <a:latin typeface="Book Antiqua" panose="02040602050305030304" pitchFamily="18" charset="0"/>
              </a:rPr>
              <a:t>Using NLP and Machine Learning to classify customer reviews and extract business insights.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2A1A51-555E-408F-BB55-50A371D62155}"/>
              </a:ext>
            </a:extLst>
          </p:cNvPr>
          <p:cNvSpPr txBox="1"/>
          <p:nvPr/>
        </p:nvSpPr>
        <p:spPr>
          <a:xfrm>
            <a:off x="457200" y="5656082"/>
            <a:ext cx="3737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ook Antiqua" panose="02040602050305030304" pitchFamily="18" charset="0"/>
              </a:rPr>
              <a:t>By: Hellen Otieno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>
                <a:latin typeface="Book Antiqua" panose="02040602050305030304" pitchFamily="18" charset="0"/>
              </a:rPr>
              <a:t>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Book Antiqua" panose="02040602050305030304" pitchFamily="18" charset="0"/>
              </a:rPr>
              <a:t>Restaurants receive large volumes of reviews. Manual analysis is inefficient. </a:t>
            </a:r>
            <a:endParaRPr lang="en-US" dirty="0">
              <a:latin typeface="Book Antiqua" panose="02040602050305030304" pitchFamily="18" charset="0"/>
            </a:endParaRPr>
          </a:p>
          <a:p>
            <a:pPr marL="0" indent="0">
              <a:buNone/>
            </a:pPr>
            <a:endParaRPr lang="en-US" dirty="0">
              <a:latin typeface="Book Antiqua" panose="02040602050305030304" pitchFamily="18" charset="0"/>
            </a:endParaRPr>
          </a:p>
          <a:p>
            <a:r>
              <a:rPr dirty="0">
                <a:latin typeface="Book Antiqua" panose="02040602050305030304" pitchFamily="18" charset="0"/>
              </a:rPr>
              <a:t>Goal: Automatically classify sentiment and extract insights.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>
                <a:latin typeface="Book Antiqua" panose="02040602050305030304" pitchFamily="18" charset="0"/>
              </a:rPr>
              <a:t>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2052925"/>
            <a:ext cx="7590436" cy="4195481"/>
          </a:xfrm>
        </p:spPr>
        <p:txBody>
          <a:bodyPr/>
          <a:lstStyle/>
          <a:p>
            <a:r>
              <a:rPr dirty="0">
                <a:latin typeface="Book Antiqua" panose="02040602050305030304" pitchFamily="18" charset="0"/>
              </a:rPr>
              <a:t>Text preprocessing</a:t>
            </a:r>
          </a:p>
          <a:p>
            <a:r>
              <a:rPr dirty="0">
                <a:latin typeface="Book Antiqua" panose="02040602050305030304" pitchFamily="18" charset="0"/>
              </a:rPr>
              <a:t>Bag of Words</a:t>
            </a:r>
          </a:p>
          <a:p>
            <a:r>
              <a:rPr lang="en-US" dirty="0">
                <a:latin typeface="Book Antiqua" panose="02040602050305030304" pitchFamily="18" charset="0"/>
              </a:rPr>
              <a:t>Decision tree, KNN, </a:t>
            </a:r>
            <a:r>
              <a:rPr dirty="0">
                <a:latin typeface="Book Antiqua" panose="02040602050305030304" pitchFamily="18" charset="0"/>
              </a:rPr>
              <a:t>Naive Bayes model</a:t>
            </a:r>
            <a:r>
              <a:rPr lang="en-US" dirty="0">
                <a:latin typeface="Book Antiqua" panose="02040602050305030304" pitchFamily="18" charset="0"/>
              </a:rPr>
              <a:t>, Random Forest</a:t>
            </a:r>
            <a:endParaRPr dirty="0">
              <a:latin typeface="Book Antiqua" panose="02040602050305030304" pitchFamily="18" charset="0"/>
            </a:endParaRPr>
          </a:p>
          <a:p>
            <a:r>
              <a:rPr dirty="0">
                <a:latin typeface="Book Antiqua" panose="02040602050305030304" pitchFamily="18" charset="0"/>
              </a:rPr>
              <a:t>Model evaluation</a:t>
            </a:r>
          </a:p>
          <a:p>
            <a:r>
              <a:rPr dirty="0">
                <a:latin typeface="Book Antiqua" panose="02040602050305030304" pitchFamily="18" charset="0"/>
              </a:rPr>
              <a:t>SHAP explainability</a:t>
            </a:r>
            <a:endParaRPr lang="en-US" dirty="0">
              <a:latin typeface="Book Antiqua" panose="02040602050305030304" pitchFamily="18" charset="0"/>
            </a:endParaRPr>
          </a:p>
          <a:p>
            <a:r>
              <a:rPr lang="en-US" dirty="0">
                <a:latin typeface="Book Antiqua" panose="02040602050305030304" pitchFamily="18" charset="0"/>
              </a:rPr>
              <a:t>Word cloud visualisation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>
                <a:latin typeface="Book Antiqua" panose="02040602050305030304" pitchFamily="18" charset="0"/>
              </a:rPr>
              <a:t>Model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Book Antiqua" panose="02040602050305030304" pitchFamily="18" charset="0"/>
              </a:rPr>
              <a:t>Best Model: Naïve Bayes</a:t>
            </a:r>
          </a:p>
          <a:p>
            <a:r>
              <a:rPr dirty="0">
                <a:latin typeface="Book Antiqua" panose="02040602050305030304" pitchFamily="18" charset="0"/>
              </a:rPr>
              <a:t>Accuracy: ~76%</a:t>
            </a:r>
          </a:p>
          <a:p>
            <a:r>
              <a:rPr dirty="0">
                <a:latin typeface="Book Antiqua" panose="02040602050305030304" pitchFamily="18" charset="0"/>
              </a:rPr>
              <a:t>ROC AUC: ~0.84</a:t>
            </a:r>
          </a:p>
          <a:p>
            <a:r>
              <a:rPr dirty="0">
                <a:latin typeface="Book Antiqua" panose="02040602050305030304" pitchFamily="18" charset="0"/>
              </a:rPr>
              <a:t>Balanced precision and recall across classes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>
                <a:latin typeface="Book Antiqua" panose="02040602050305030304" pitchFamily="18" charset="0"/>
              </a:rPr>
              <a:t>Model Evaluation Metrics</a:t>
            </a:r>
          </a:p>
        </p:txBody>
      </p:sp>
      <p:pic>
        <p:nvPicPr>
          <p:cNvPr id="3" name="Picture 2" descr="Screenshot 2026-03-24 143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8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64348"/>
          </a:xfrm>
        </p:spPr>
        <p:txBody>
          <a:bodyPr>
            <a:normAutofit fontScale="90000"/>
          </a:bodyPr>
          <a:lstStyle/>
          <a:p>
            <a:pPr algn="ctr"/>
            <a:r>
              <a:rPr dirty="0">
                <a:latin typeface="Book Antiqua" panose="02040602050305030304" pitchFamily="18" charset="0"/>
              </a:rPr>
              <a:t>SHAP Interpretation</a:t>
            </a:r>
          </a:p>
        </p:txBody>
      </p:sp>
      <p:pic>
        <p:nvPicPr>
          <p:cNvPr id="3" name="Picture 2" descr="31bd5de0-1a63-4e6b-8c6d-22e0e094de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138" y="1080091"/>
            <a:ext cx="7357892" cy="55032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7E8543-756B-4F8D-89E6-4EFFB870D152}"/>
              </a:ext>
            </a:extLst>
          </p:cNvPr>
          <p:cNvSpPr txBox="1"/>
          <p:nvPr/>
        </p:nvSpPr>
        <p:spPr>
          <a:xfrm>
            <a:off x="282805" y="537328"/>
            <a:ext cx="8578392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Book Antiqua" panose="02040602050305030304" pitchFamily="18" charset="0"/>
              </a:rPr>
              <a:t>SHAP Interpretation Summary</a:t>
            </a:r>
          </a:p>
          <a:p>
            <a:endParaRPr lang="en-US" b="1" dirty="0">
              <a:latin typeface="Book Antiqua" panose="02040602050305030304" pitchFamily="18" charset="0"/>
            </a:endParaRPr>
          </a:p>
          <a:p>
            <a:r>
              <a:rPr lang="en-US" dirty="0">
                <a:latin typeface="Book Antiqua" panose="02040602050305030304" pitchFamily="18" charset="0"/>
              </a:rPr>
              <a:t>The SHAP summary plot shows how individual words influence the model’s sentiment predictions. Words positioned on the right push predictions toward </a:t>
            </a:r>
            <a:r>
              <a:rPr lang="en-US" b="1" dirty="0">
                <a:latin typeface="Book Antiqua" panose="02040602050305030304" pitchFamily="18" charset="0"/>
              </a:rPr>
              <a:t>positive sentiment</a:t>
            </a:r>
            <a:r>
              <a:rPr lang="en-US" dirty="0">
                <a:latin typeface="Book Antiqua" panose="02040602050305030304" pitchFamily="18" charset="0"/>
              </a:rPr>
              <a:t>, while those on the left push toward </a:t>
            </a:r>
            <a:r>
              <a:rPr lang="en-US" b="1" dirty="0">
                <a:latin typeface="Book Antiqua" panose="02040602050305030304" pitchFamily="18" charset="0"/>
              </a:rPr>
              <a:t>negative sentiment</a:t>
            </a:r>
            <a:r>
              <a:rPr lang="en-US" dirty="0">
                <a:latin typeface="Book Antiqua" panose="02040602050305030304" pitchFamily="18" charset="0"/>
              </a:rPr>
              <a:t>.</a:t>
            </a:r>
          </a:p>
          <a:p>
            <a:endParaRPr lang="en-US" dirty="0">
              <a:latin typeface="Book Antiqua" panose="02040602050305030304" pitchFamily="18" charset="0"/>
            </a:endParaRPr>
          </a:p>
          <a:p>
            <a:r>
              <a:rPr lang="en-US" dirty="0">
                <a:latin typeface="Book Antiqua" panose="02040602050305030304" pitchFamily="18" charset="0"/>
              </a:rPr>
              <a:t>The model strongly associates words like </a:t>
            </a:r>
            <a:r>
              <a:rPr lang="en-US" i="1" dirty="0">
                <a:latin typeface="Book Antiqua" panose="02040602050305030304" pitchFamily="18" charset="0"/>
              </a:rPr>
              <a:t>“great,” “good,” “delicious,”</a:t>
            </a:r>
            <a:r>
              <a:rPr lang="en-US" dirty="0">
                <a:latin typeface="Book Antiqua" panose="02040602050305030304" pitchFamily="18" charset="0"/>
              </a:rPr>
              <a:t> and </a:t>
            </a:r>
            <a:r>
              <a:rPr lang="en-US" i="1" dirty="0">
                <a:latin typeface="Book Antiqua" panose="02040602050305030304" pitchFamily="18" charset="0"/>
              </a:rPr>
              <a:t>“love”</a:t>
            </a:r>
            <a:r>
              <a:rPr lang="en-US" dirty="0">
                <a:latin typeface="Book Antiqua" panose="02040602050305030304" pitchFamily="18" charset="0"/>
              </a:rPr>
              <a:t> with positive reviews, while words such as </a:t>
            </a:r>
            <a:r>
              <a:rPr lang="en-US" i="1" dirty="0">
                <a:latin typeface="Book Antiqua" panose="02040602050305030304" pitchFamily="18" charset="0"/>
              </a:rPr>
              <a:t>“bad,” “terrible,” “wait,”</a:t>
            </a:r>
            <a:r>
              <a:rPr lang="en-US" dirty="0">
                <a:latin typeface="Book Antiqua" panose="02040602050305030304" pitchFamily="18" charset="0"/>
              </a:rPr>
              <a:t> and </a:t>
            </a:r>
            <a:r>
              <a:rPr lang="en-US" i="1" dirty="0">
                <a:latin typeface="Book Antiqua" panose="02040602050305030304" pitchFamily="18" charset="0"/>
              </a:rPr>
              <a:t>“bland”</a:t>
            </a:r>
            <a:r>
              <a:rPr lang="en-US" dirty="0">
                <a:latin typeface="Book Antiqua" panose="02040602050305030304" pitchFamily="18" charset="0"/>
              </a:rPr>
              <a:t> drive negative predictions.</a:t>
            </a:r>
          </a:p>
          <a:p>
            <a:endParaRPr lang="en-US" dirty="0">
              <a:latin typeface="Book Antiqua" panose="02040602050305030304" pitchFamily="18" charset="0"/>
            </a:endParaRPr>
          </a:p>
          <a:p>
            <a:r>
              <a:rPr lang="en-US" dirty="0">
                <a:latin typeface="Book Antiqua" panose="02040602050305030304" pitchFamily="18" charset="0"/>
              </a:rPr>
              <a:t>Additionally, the spread of points for each word indicates that their impact can vary depending on context, but overall, the model captures clear and intuitive patterns in customer feedback.</a:t>
            </a:r>
          </a:p>
          <a:p>
            <a:endParaRPr lang="en-US" dirty="0">
              <a:latin typeface="Book Antiqua" panose="02040602050305030304" pitchFamily="18" charset="0"/>
            </a:endParaRPr>
          </a:p>
          <a:p>
            <a:r>
              <a:rPr lang="en-US" dirty="0">
                <a:latin typeface="Book Antiqua" panose="02040602050305030304" pitchFamily="18" charset="0"/>
              </a:rPr>
              <a:t>In short, the visualisation confirms that the model is making decisions based on meaningful and interpretable language signals.</a:t>
            </a:r>
          </a:p>
        </p:txBody>
      </p:sp>
    </p:spTree>
    <p:extLst>
      <p:ext uri="{BB962C8B-B14F-4D97-AF65-F5344CB8AC3E}">
        <p14:creationId xmlns:p14="http://schemas.microsoft.com/office/powerpoint/2010/main" val="454032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933022"/>
          </a:xfrm>
        </p:spPr>
        <p:txBody>
          <a:bodyPr/>
          <a:lstStyle/>
          <a:p>
            <a:pPr algn="ctr"/>
            <a:r>
              <a:rPr lang="en-GB" dirty="0">
                <a:latin typeface="Book Antiqua" panose="02040602050305030304" pitchFamily="18" charset="0"/>
              </a:rPr>
              <a:t>Overall Word Distribution</a:t>
            </a:r>
            <a:endParaRPr dirty="0">
              <a:latin typeface="Book Antiqua" panose="02040602050305030304" pitchFamily="18" charset="0"/>
            </a:endParaRPr>
          </a:p>
        </p:txBody>
      </p:sp>
      <p:pic>
        <p:nvPicPr>
          <p:cNvPr id="3" name="Picture 2" descr="Screenshot 2026-03-24 143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4" y="1946635"/>
            <a:ext cx="7315200" cy="38124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Positive Reviews Word Cloud</a:t>
            </a:r>
          </a:p>
        </p:txBody>
      </p:sp>
      <p:pic>
        <p:nvPicPr>
          <p:cNvPr id="3" name="Picture 2" descr="Screenshot 2026-03-24 143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2623"/>
            <a:ext cx="7315200" cy="40252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>
                <a:latin typeface="Book Antiqua" panose="02040602050305030304" pitchFamily="18" charset="0"/>
              </a:rPr>
              <a:t>Negative Reviews Word Cloud</a:t>
            </a:r>
            <a:endParaRPr dirty="0">
              <a:latin typeface="Book Antiqua" panose="02040602050305030304" pitchFamily="18" charset="0"/>
            </a:endParaRPr>
          </a:p>
        </p:txBody>
      </p:sp>
      <p:pic>
        <p:nvPicPr>
          <p:cNvPr id="3" name="Picture 2" descr="Screenshot 2026-03-24 1433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3248"/>
            <a:ext cx="7315200" cy="400210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>
                <a:latin typeface="Book Antiqua" panose="02040602050305030304" pitchFamily="18" charset="0"/>
              </a:rP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>
                <a:latin typeface="Book Antiqua" panose="02040602050305030304" pitchFamily="18" charset="0"/>
              </a:rPr>
              <a:t>• Positive words: great, delicious, friendly</a:t>
            </a:r>
          </a:p>
          <a:p>
            <a:pPr marL="0" indent="0">
              <a:buNone/>
            </a:pPr>
            <a:r>
              <a:rPr dirty="0">
                <a:latin typeface="Book Antiqua" panose="02040602050305030304" pitchFamily="18" charset="0"/>
              </a:rPr>
              <a:t>• Negative words: bad, terrible, wait</a:t>
            </a:r>
          </a:p>
          <a:p>
            <a:pPr marL="0" indent="0">
              <a:buNone/>
            </a:pPr>
            <a:r>
              <a:rPr dirty="0">
                <a:latin typeface="Book Antiqua" panose="02040602050305030304" pitchFamily="18" charset="0"/>
              </a:rPr>
              <a:t>• Model captures meaningful sentiment patterns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>
                <a:latin typeface="Book Antiqua" panose="0204060205030503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>
                <a:latin typeface="Book Antiqua" panose="02040602050305030304" pitchFamily="18" charset="0"/>
              </a:rPr>
              <a:t>This project shows how NLP can turn customer feedback into actionable insights for businesses.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</TotalTime>
  <Words>285</Words>
  <Application>Microsoft Office PowerPoint</Application>
  <PresentationFormat>On-screen Show (4:3)</PresentationFormat>
  <Paragraphs>39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Book Antiqua</vt:lpstr>
      <vt:lpstr>Century Gothic</vt:lpstr>
      <vt:lpstr>Wingdings 3</vt:lpstr>
      <vt:lpstr>Ion</vt:lpstr>
      <vt:lpstr>Restaurant Review Sentiment Analysis</vt:lpstr>
      <vt:lpstr>Business Problem</vt:lpstr>
      <vt:lpstr>Approach</vt:lpstr>
      <vt:lpstr>Model Performance</vt:lpstr>
      <vt:lpstr>Model Evaluation Metrics</vt:lpstr>
      <vt:lpstr>SHAP Interpretation</vt:lpstr>
      <vt:lpstr>PowerPoint Presentation</vt:lpstr>
      <vt:lpstr>Overall Word Distribution</vt:lpstr>
      <vt:lpstr>Positive Reviews Word Cloud</vt:lpstr>
      <vt:lpstr>Negative Reviews Word Cloud</vt:lpstr>
      <vt:lpstr>Key Insights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Restaurant Review Sentiment Analysis</dc:title>
  <dc:subject/>
  <dc:creator>user</dc:creator>
  <cp:keywords/>
  <dc:description>generated using python-pptx</dc:description>
  <cp:lastModifiedBy>Hellen Amimo Otieno</cp:lastModifiedBy>
  <cp:revision>6</cp:revision>
  <dcterms:created xsi:type="dcterms:W3CDTF">2013-01-27T09:14:16Z</dcterms:created>
  <dcterms:modified xsi:type="dcterms:W3CDTF">2026-03-24T15:14:06Z</dcterms:modified>
  <cp:category/>
</cp:coreProperties>
</file>